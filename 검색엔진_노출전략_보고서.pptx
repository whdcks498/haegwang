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3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C40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tretch>
            <a:fillRect/>
          </a:stretch>
        </p:blipFill>
        <p:spPr>
          <a:xfrm>
            <a:off x="8869680" y="4297680"/>
            <a:ext cx="2651760" cy="26517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40080" y="1325880"/>
            <a:ext cx="914400" cy="914400"/>
          </a:xfrm>
          <a:prstGeom prst="ellipse">
            <a:avLst/>
          </a:prstGeom>
          <a:solidFill>
            <a:srgbClr val="15326F"/>
          </a:solidFill>
          <a:ln/>
          <a:effectLst>
            <a:outerShdw sx="100000" sy="100000" kx="0" ky="0" algn="bl" rotWithShape="0" blurRad="114300" dist="38100" dir="8100000">
              <a:srgbClr val="9AA8C7">
                <a:alpha val="28000"/>
              </a:srgbClr>
            </a:outerShdw>
          </a:effectLst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" y="1591056"/>
            <a:ext cx="384048" cy="38404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40080" y="2423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FC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기반 홈페이지 운영 · 전략 보고서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640080" y="278892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검색엔진 최다 노출 전략 &amp;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향후 진행 방향</a:t>
            </a:r>
            <a:endParaRPr lang="en-US" sz="4000" dirty="0"/>
          </a:p>
        </p:txBody>
      </p:sp>
      <p:sp>
        <p:nvSpPr>
          <p:cNvPr id="8" name="Text 4"/>
          <p:cNvSpPr/>
          <p:nvPr/>
        </p:nvSpPr>
        <p:spPr>
          <a:xfrm>
            <a:off x="640080" y="45720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해광 화물운송 · 화물구인구직  (whdcks498.github.io/haegwang)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640080" y="4983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2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구글·네이버 균형 / 무료(자연검색) 중심    ·    2026.06.17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C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WHERE WE ARE — 이미 갖춘 강점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32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현황 진단 : 이미 탄탄히 구축된 검색 자산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627632"/>
            <a:ext cx="3393338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14300" dist="38100" dir="8100000">
              <a:srgbClr val="9AA8C7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" y="1920240"/>
            <a:ext cx="640080" cy="640080"/>
          </a:xfrm>
          <a:prstGeom prst="ellipse">
            <a:avLst/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8100000">
              <a:srgbClr val="9AA8C7">
                <a:alpha val="2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8311" y="2105863"/>
            <a:ext cx="268834" cy="26883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2651760"/>
            <a:ext cx="28446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32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4대 검색엔진 등록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914400" y="2962656"/>
            <a:ext cx="28904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6B7A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구글·네이버·빙·다음 색인 + IndexNow 자동통보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4399178" y="1627632"/>
            <a:ext cx="3393338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14300" dist="38100" dir="8100000">
              <a:srgbClr val="9AA8C7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91786" y="1920240"/>
            <a:ext cx="640080" cy="640080"/>
          </a:xfrm>
          <a:prstGeom prst="ellipse">
            <a:avLst/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8100000">
              <a:srgbClr val="9AA8C7">
                <a:alpha val="28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7410" y="2105863"/>
            <a:ext cx="268834" cy="26883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73498" y="2651760"/>
            <a:ext cx="28446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32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지역×차종 랜딩 11+종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673498" y="2962656"/>
            <a:ext cx="28904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6B7A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서울·부산·대구 등 지역별, 1~25톤 차종별 페이지</a:t>
            </a:r>
            <a:endParaRPr lang="en-US" sz="1080" dirty="0"/>
          </a:p>
        </p:txBody>
      </p:sp>
      <p:sp>
        <p:nvSpPr>
          <p:cNvPr id="14" name="Shape 10"/>
          <p:cNvSpPr/>
          <p:nvPr/>
        </p:nvSpPr>
        <p:spPr>
          <a:xfrm>
            <a:off x="8158277" y="1627632"/>
            <a:ext cx="3393338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14300" dist="38100" dir="8100000">
              <a:srgbClr val="9AA8C7">
                <a:alpha val="2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50885" y="1920240"/>
            <a:ext cx="640080" cy="640080"/>
          </a:xfrm>
          <a:prstGeom prst="ellipse">
            <a:avLst/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8100000">
              <a:srgbClr val="9AA8C7">
                <a:alpha val="28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6508" y="2105863"/>
            <a:ext cx="268834" cy="26883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32597" y="2651760"/>
            <a:ext cx="28446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32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매일 SEO 글 자동발행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432597" y="2962656"/>
            <a:ext cx="28904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6B7A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취업정보 글 매일 1편 + 사이트맵 자동 갱신</a:t>
            </a:r>
            <a:endParaRPr lang="en-US" sz="1080" dirty="0"/>
          </a:p>
        </p:txBody>
      </p:sp>
      <p:sp>
        <p:nvSpPr>
          <p:cNvPr id="19" name="Shape 14"/>
          <p:cNvSpPr/>
          <p:nvPr/>
        </p:nvSpPr>
        <p:spPr>
          <a:xfrm>
            <a:off x="640080" y="3730752"/>
            <a:ext cx="3393338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14300" dist="38100" dir="8100000">
              <a:srgbClr val="9AA8C7">
                <a:alpha val="2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32688" y="4023360"/>
            <a:ext cx="640080" cy="640080"/>
          </a:xfrm>
          <a:prstGeom prst="ellipse">
            <a:avLst/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8100000">
              <a:srgbClr val="9AA8C7">
                <a:alpha val="28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311" y="4208983"/>
            <a:ext cx="268834" cy="26883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4400" y="4754880"/>
            <a:ext cx="28446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32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방문자 분석(GA4)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914400" y="5065776"/>
            <a:ext cx="28904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6B7A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유입·체류·전환을 데이터로 측정 가능</a:t>
            </a:r>
            <a:endParaRPr lang="en-US" sz="1080" dirty="0"/>
          </a:p>
        </p:txBody>
      </p:sp>
      <p:sp>
        <p:nvSpPr>
          <p:cNvPr id="24" name="Shape 18"/>
          <p:cNvSpPr/>
          <p:nvPr/>
        </p:nvSpPr>
        <p:spPr>
          <a:xfrm>
            <a:off x="4399178" y="3730752"/>
            <a:ext cx="3393338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14300" dist="38100" dir="8100000">
              <a:srgbClr val="9AA8C7">
                <a:alpha val="2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691786" y="4023360"/>
            <a:ext cx="640080" cy="640080"/>
          </a:xfrm>
          <a:prstGeom prst="ellipse">
            <a:avLst/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8100000">
              <a:srgbClr val="9AA8C7">
                <a:alpha val="28000"/>
              </a:srgbClr>
            </a:outerShdw>
          </a:effectLst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7410" y="4208983"/>
            <a:ext cx="268834" cy="26883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673498" y="4754880"/>
            <a:ext cx="28446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32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정보형 트래픽 자석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673498" y="5065776"/>
            <a:ext cx="28904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6B7A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경유값·자격증 모의시험으로 검색 유입</a:t>
            </a:r>
            <a:endParaRPr lang="en-US" sz="1080" dirty="0"/>
          </a:p>
        </p:txBody>
      </p:sp>
      <p:sp>
        <p:nvSpPr>
          <p:cNvPr id="29" name="Shape 22"/>
          <p:cNvSpPr/>
          <p:nvPr/>
        </p:nvSpPr>
        <p:spPr>
          <a:xfrm>
            <a:off x="8158277" y="3730752"/>
            <a:ext cx="3393338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14300" dist="38100" dir="8100000">
              <a:srgbClr val="9AA8C7">
                <a:alpha val="2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450885" y="4023360"/>
            <a:ext cx="640080" cy="640080"/>
          </a:xfrm>
          <a:prstGeom prst="ellipse">
            <a:avLst/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8100000">
              <a:srgbClr val="9AA8C7">
                <a:alpha val="28000"/>
              </a:srgbClr>
            </a:outerShdw>
          </a:effectLst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36508" y="4208983"/>
            <a:ext cx="268834" cy="26883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432597" y="4754880"/>
            <a:ext cx="28446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32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모바일·구조 최적화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432597" y="5065776"/>
            <a:ext cx="28904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6B7A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반응형·canonical·OG태그·고정 전화/이력서 버튼</a:t>
            </a:r>
            <a:endParaRPr lang="en-US" sz="1080" dirty="0"/>
          </a:p>
        </p:txBody>
      </p:sp>
      <p:sp>
        <p:nvSpPr>
          <p:cNvPr id="34" name="Text 26"/>
          <p:cNvSpPr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해광 화물구인구직 · 검색엔진 노출 전략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C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STRATEGY FRAMEWORK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32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상위노출의 3축 — 세 가지가 함께 움직여야 한다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332378" cy="3840480"/>
          </a:xfrm>
          <a:prstGeom prst="roundRect">
            <a:avLst>
              <a:gd name="adj" fmla="val 2744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14300" dist="38100" dir="8100000">
              <a:srgbClr val="9AA8C7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828800"/>
            <a:ext cx="3332378" cy="128016"/>
          </a:xfrm>
          <a:prstGeom prst="rect">
            <a:avLst/>
          </a:prstGeom>
          <a:solidFill>
            <a:srgbClr val="15326F"/>
          </a:solidFill>
          <a:ln/>
        </p:spPr>
      </p:sp>
      <p:sp>
        <p:nvSpPr>
          <p:cNvPr id="6" name="Shape 4"/>
          <p:cNvSpPr/>
          <p:nvPr/>
        </p:nvSpPr>
        <p:spPr>
          <a:xfrm>
            <a:off x="1849069" y="2286000"/>
            <a:ext cx="914400" cy="914400"/>
          </a:xfrm>
          <a:prstGeom prst="ellipse">
            <a:avLst/>
          </a:prstGeom>
          <a:solidFill>
            <a:srgbClr val="15326F"/>
          </a:solidFill>
          <a:ln/>
          <a:effectLst>
            <a:outerShdw sx="100000" sy="100000" kx="0" ky="0" algn="bl" rotWithShape="0" blurRad="114300" dist="38100" dir="8100000">
              <a:srgbClr val="9AA8C7">
                <a:alpha val="2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14245" y="2551176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364992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32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기술 SEO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14400" y="3840480"/>
            <a:ext cx="27837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검색엔진이 잘 읽고 신뢰하는 구조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914400" y="4572000"/>
            <a:ext cx="27837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구조화데이터(JobPosting)·속도·모바일·사이트맵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429658" y="1828800"/>
            <a:ext cx="3332378" cy="3840480"/>
          </a:xfrm>
          <a:prstGeom prst="roundRect">
            <a:avLst>
              <a:gd name="adj" fmla="val 2744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14300" dist="38100" dir="8100000">
              <a:srgbClr val="9AA8C7">
                <a:alpha val="2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429658" y="1828800"/>
            <a:ext cx="3332378" cy="128016"/>
          </a:xfrm>
          <a:prstGeom prst="rect">
            <a:avLst/>
          </a:prstGeom>
          <a:solidFill>
            <a:srgbClr val="03C75A"/>
          </a:solidFill>
          <a:ln/>
        </p:spPr>
      </p:sp>
      <p:sp>
        <p:nvSpPr>
          <p:cNvPr id="13" name="Shape 10"/>
          <p:cNvSpPr/>
          <p:nvPr/>
        </p:nvSpPr>
        <p:spPr>
          <a:xfrm>
            <a:off x="5638648" y="2286000"/>
            <a:ext cx="914400" cy="914400"/>
          </a:xfrm>
          <a:prstGeom prst="ellipse">
            <a:avLst/>
          </a:prstGeom>
          <a:solidFill>
            <a:srgbClr val="03C75A"/>
          </a:solidFill>
          <a:ln/>
          <a:effectLst>
            <a:outerShdw sx="100000" sy="100000" kx="0" ky="0" algn="bl" rotWithShape="0" blurRad="114300" dist="38100" dir="8100000">
              <a:srgbClr val="9AA8C7">
                <a:alpha val="28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3824" y="2551176"/>
            <a:ext cx="384048" cy="38404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612538" y="3364992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32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콘텐츠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4703978" y="3840480"/>
            <a:ext cx="27837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찾는 사람이 검색하는 키워드를 선점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4703978" y="4572000"/>
            <a:ext cx="27837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지역×차종×조건 롱테일·정보형 글·내부링크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8219237" y="1828800"/>
            <a:ext cx="3332378" cy="3840480"/>
          </a:xfrm>
          <a:prstGeom prst="roundRect">
            <a:avLst>
              <a:gd name="adj" fmla="val 2744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14300" dist="38100" dir="8100000">
              <a:srgbClr val="9AA8C7">
                <a:alpha val="2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219237" y="1828800"/>
            <a:ext cx="3332378" cy="128016"/>
          </a:xfrm>
          <a:prstGeom prst="rect">
            <a:avLst/>
          </a:prstGeom>
          <a:solidFill>
            <a:srgbClr val="FFC400"/>
          </a:solidFill>
          <a:ln/>
        </p:spPr>
      </p:sp>
      <p:sp>
        <p:nvSpPr>
          <p:cNvPr id="20" name="Shape 16"/>
          <p:cNvSpPr/>
          <p:nvPr/>
        </p:nvSpPr>
        <p:spPr>
          <a:xfrm>
            <a:off x="9428226" y="2286000"/>
            <a:ext cx="914400" cy="914400"/>
          </a:xfrm>
          <a:prstGeom prst="ellipse">
            <a:avLst/>
          </a:prstGeom>
          <a:solidFill>
            <a:srgbClr val="15326F"/>
          </a:solidFill>
          <a:ln/>
          <a:effectLst>
            <a:outerShdw sx="100000" sy="100000" kx="0" ky="0" algn="bl" rotWithShape="0" blurRad="114300" dist="38100" dir="8100000">
              <a:srgbClr val="9AA8C7">
                <a:alpha val="28000"/>
              </a:srgbClr>
            </a:outerShdw>
          </a:effectLst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3402" y="2551176"/>
            <a:ext cx="384048" cy="38404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402117" y="3364992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32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외부 신뢰</a:t>
            </a:r>
            <a:endParaRPr lang="en-US" sz="1800" dirty="0"/>
          </a:p>
        </p:txBody>
      </p:sp>
      <p:sp>
        <p:nvSpPr>
          <p:cNvPr id="23" name="Text 18"/>
          <p:cNvSpPr/>
          <p:nvPr/>
        </p:nvSpPr>
        <p:spPr>
          <a:xfrm>
            <a:off x="8493557" y="3840480"/>
            <a:ext cx="27837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사이트 밖에서 들어오는 신뢰·유입</a:t>
            </a:r>
            <a:endParaRPr lang="en-US" sz="1250" dirty="0"/>
          </a:p>
        </p:txBody>
      </p:sp>
      <p:sp>
        <p:nvSpPr>
          <p:cNvPr id="24" name="Text 19"/>
          <p:cNvSpPr/>
          <p:nvPr/>
        </p:nvSpPr>
        <p:spPr>
          <a:xfrm>
            <a:off x="8493557" y="4572000"/>
            <a:ext cx="27837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카페·블로그·유튜브·지도/플레이스 등록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해광 화물구인구직 · 검색엔진 노출 전략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C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GOOGLE — 구글 전략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32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구글 : '구글 채용(Google for Jobs)' 진입이 최대 기회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664208"/>
            <a:ext cx="822960" cy="822960"/>
          </a:xfrm>
          <a:prstGeom prst="ellipse">
            <a:avLst/>
          </a:prstGeom>
          <a:solidFill>
            <a:srgbClr val="4285F4"/>
          </a:solidFill>
          <a:ln/>
          <a:effectLst>
            <a:outerShdw sx="100000" sy="100000" kx="0" ky="0" algn="bl" rotWithShape="0" blurRad="114300" dist="38100" dir="8100000">
              <a:srgbClr val="9AA8C7">
                <a:alpha val="2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8738" y="1902866"/>
            <a:ext cx="345643" cy="34564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45920" y="169164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32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한 방 : 채용공고 구조화데이터(JobPosting)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645920" y="21031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공고 페이지에 JobPosting JSON-LD를 넣으면, 구글 검색 '채용' 전용 영역에 무료 카드로 노출 — 직무·지역·급여·마감이 한눈에 보여 클릭률이 크게 상승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40080" y="2926080"/>
            <a:ext cx="91440" cy="841248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9" name="Shape 6"/>
          <p:cNvSpPr/>
          <p:nvPr/>
        </p:nvSpPr>
        <p:spPr>
          <a:xfrm>
            <a:off x="786384" y="2926080"/>
            <a:ext cx="10765231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05840" y="3017520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32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JobPosting 구조화데이터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4937760" y="3017520"/>
            <a:ext cx="6248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공고마다 직무·지역·급여·등록일(ISO)·마감일 JSON-LD 삽입 → 구글 채용 리치결과 노출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40080" y="3822192"/>
            <a:ext cx="91440" cy="841248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3" name="Shape 10"/>
          <p:cNvSpPr/>
          <p:nvPr/>
        </p:nvSpPr>
        <p:spPr>
          <a:xfrm>
            <a:off x="786384" y="3822192"/>
            <a:ext cx="10765231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05840" y="3913632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32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서치콘솔 운영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4937760" y="3913632"/>
            <a:ext cx="6248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색인·검색어·CTR 모니터링, 신규/수정 페이지 색인요청, 오류 즉시 수정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40080" y="4718304"/>
            <a:ext cx="91440" cy="841248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7" name="Shape 14"/>
          <p:cNvSpPr/>
          <p:nvPr/>
        </p:nvSpPr>
        <p:spPr>
          <a:xfrm>
            <a:off x="786384" y="4718304"/>
            <a:ext cx="10765231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005840" y="4809744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32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코어 웹 바이탈·모바일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4937760" y="4809744"/>
            <a:ext cx="6248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로딩 속도·이미지 최적화·모바일 가독성 — 구글 랭킹 직접 요소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640080" y="5614416"/>
            <a:ext cx="91440" cy="841248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1" name="Shape 18"/>
          <p:cNvSpPr/>
          <p:nvPr/>
        </p:nvSpPr>
        <p:spPr>
          <a:xfrm>
            <a:off x="786384" y="5614416"/>
            <a:ext cx="10765231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005840" y="5705856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32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도움되는 콘텐츠(E-E-A-T)</a:t>
            </a:r>
            <a:endParaRPr lang="en-US" sz="1350" dirty="0"/>
          </a:p>
        </p:txBody>
      </p:sp>
      <p:sp>
        <p:nvSpPr>
          <p:cNvPr id="23" name="Text 20"/>
          <p:cNvSpPr/>
          <p:nvPr/>
        </p:nvSpPr>
        <p:spPr>
          <a:xfrm>
            <a:off x="4937760" y="5705856"/>
            <a:ext cx="6248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경험 담긴 현장형 글·작성자/연락처 명시로 신뢰도 신호 강화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해광 화물구인구직 · 검색엔진 노출 전략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C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NAVER — 네이버 전략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32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네이버 : 검색 점유율 1위 — 블로그·카페·플레이스 공략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664208"/>
            <a:ext cx="822960" cy="822960"/>
          </a:xfrm>
          <a:prstGeom prst="ellipse">
            <a:avLst/>
          </a:prstGeom>
          <a:solidFill>
            <a:srgbClr val="03C75A"/>
          </a:solidFill>
          <a:ln/>
          <a:effectLst>
            <a:outerShdw sx="100000" sy="100000" kx="0" ky="0" algn="bl" rotWithShape="0" blurRad="114300" dist="38100" dir="8100000">
              <a:srgbClr val="9AA8C7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66420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645920" y="169164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32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알고리즘 : C-Rank(신뢰·전문성) + D.I.A.(검색의도)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210312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53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주제를 꾸준히 다룬 '전문 채널'·체류시간·반응 좋은 글이 상위. ⚠️ AI 티 나는 글은 패널티 — 반드시 사람 손길(현장 사진·실제 경험)을 더할 것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2971800"/>
            <a:ext cx="5272888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14300" dist="38100" dir="8100000">
              <a:srgbClr val="9AA8C7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96112" y="3355848"/>
            <a:ext cx="640080" cy="640080"/>
          </a:xfrm>
          <a:prstGeom prst="ellipse">
            <a:avLst/>
          </a:prstGeom>
          <a:solidFill>
            <a:srgbClr val="03C75A"/>
          </a:solidFill>
          <a:ln/>
          <a:effectLst>
            <a:outerShdw sx="100000" sy="100000" kx="0" ky="0" algn="bl" rotWithShape="0" blurRad="114300" dist="38100" dir="8100000">
              <a:srgbClr val="9AA8C7">
                <a:alpha val="28000"/>
              </a:srgbClr>
            </a:outerShdw>
          </a:effectLst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1735" y="3541471"/>
            <a:ext cx="268834" cy="26883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737360" y="3209544"/>
            <a:ext cx="3992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32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네이버 블로그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737360" y="3593592"/>
            <a:ext cx="39470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6B7A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해광 채용·현장 후기 주 2~3회. 사진·경험 위주, 키워드 자연삽입</a:t>
            </a:r>
            <a:endParaRPr lang="en-US" sz="1080" dirty="0"/>
          </a:p>
        </p:txBody>
      </p:sp>
      <p:sp>
        <p:nvSpPr>
          <p:cNvPr id="13" name="Shape 10"/>
          <p:cNvSpPr/>
          <p:nvPr/>
        </p:nvSpPr>
        <p:spPr>
          <a:xfrm>
            <a:off x="6278728" y="2971800"/>
            <a:ext cx="5272888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14300" dist="38100" dir="8100000">
              <a:srgbClr val="9AA8C7">
                <a:alpha val="2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534760" y="3355848"/>
            <a:ext cx="640080" cy="640080"/>
          </a:xfrm>
          <a:prstGeom prst="ellipse">
            <a:avLst/>
          </a:prstGeom>
          <a:solidFill>
            <a:srgbClr val="03C75A"/>
          </a:solidFill>
          <a:ln/>
          <a:effectLst>
            <a:outerShdw sx="100000" sy="100000" kx="0" ky="0" algn="bl" rotWithShape="0" blurRad="114300" dist="38100" dir="8100000">
              <a:srgbClr val="9AA8C7">
                <a:alpha val="28000"/>
              </a:srgbClr>
            </a:outerShd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383" y="3541471"/>
            <a:ext cx="268834" cy="26883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376008" y="3209544"/>
            <a:ext cx="3992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32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카페·지식iN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7376008" y="3593592"/>
            <a:ext cx="39470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6B7A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화물·운송 카페 활동, 지식iN '화물기사 취업' 답변으로 신뢰+유입</a:t>
            </a:r>
            <a:endParaRPr lang="en-US" sz="1080" dirty="0"/>
          </a:p>
        </p:txBody>
      </p:sp>
      <p:sp>
        <p:nvSpPr>
          <p:cNvPr id="18" name="Shape 14"/>
          <p:cNvSpPr/>
          <p:nvPr/>
        </p:nvSpPr>
        <p:spPr>
          <a:xfrm>
            <a:off x="640080" y="4617720"/>
            <a:ext cx="5272888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14300" dist="38100" dir="8100000">
              <a:srgbClr val="9AA8C7">
                <a:alpha val="2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96112" y="5001768"/>
            <a:ext cx="640080" cy="640080"/>
          </a:xfrm>
          <a:prstGeom prst="ellipse">
            <a:avLst/>
          </a:prstGeom>
          <a:solidFill>
            <a:srgbClr val="03C75A"/>
          </a:solidFill>
          <a:ln/>
          <a:effectLst>
            <a:outerShdw sx="100000" sy="100000" kx="0" ky="0" algn="bl" rotWithShape="0" blurRad="114300" dist="38100" dir="8100000">
              <a:srgbClr val="9AA8C7">
                <a:alpha val="28000"/>
              </a:srgbClr>
            </a:outerShdw>
          </a:effectLst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1735" y="5187391"/>
            <a:ext cx="268834" cy="26883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737360" y="4855464"/>
            <a:ext cx="3992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32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네이버 플레이스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1737360" y="5239512"/>
            <a:ext cx="39470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6B7A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스마트플레이스 업체 등록 — 지역 검색·지도 노출(로컬 SEO)</a:t>
            </a:r>
            <a:endParaRPr lang="en-US" sz="1080" dirty="0"/>
          </a:p>
        </p:txBody>
      </p:sp>
      <p:sp>
        <p:nvSpPr>
          <p:cNvPr id="23" name="Shape 18"/>
          <p:cNvSpPr/>
          <p:nvPr/>
        </p:nvSpPr>
        <p:spPr>
          <a:xfrm>
            <a:off x="6278728" y="4617720"/>
            <a:ext cx="5272888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14300" dist="38100" dir="8100000">
              <a:srgbClr val="9AA8C7">
                <a:alpha val="28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534760" y="5001768"/>
            <a:ext cx="640080" cy="640080"/>
          </a:xfrm>
          <a:prstGeom prst="ellipse">
            <a:avLst/>
          </a:prstGeom>
          <a:solidFill>
            <a:srgbClr val="03C75A"/>
          </a:solidFill>
          <a:ln/>
          <a:effectLst>
            <a:outerShdw sx="100000" sy="100000" kx="0" ky="0" algn="bl" rotWithShape="0" blurRad="114300" dist="38100" dir="8100000">
              <a:srgbClr val="9AA8C7">
                <a:alpha val="28000"/>
              </a:srgbClr>
            </a:outerShdw>
          </a:effectLst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383" y="5187391"/>
            <a:ext cx="268834" cy="26883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376008" y="4855464"/>
            <a:ext cx="3992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32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VIEW·통합검색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7376008" y="5239512"/>
            <a:ext cx="39470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6B7A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블로그+카페 통합 평가 강화, 트렌드 키워드 빠른 대응</a:t>
            </a:r>
            <a:endParaRPr lang="en-US" sz="1080" dirty="0"/>
          </a:p>
        </p:txBody>
      </p:sp>
      <p:sp>
        <p:nvSpPr>
          <p:cNvPr id="28" name="Text 22"/>
          <p:cNvSpPr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해광 화물구인구직 · 검색엔진 노출 전략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C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CONTENT — 콘텐츠 전략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32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콘텐츠 : 검색하는 '말'을 선점한다 (롱테일 키워드)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62763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32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공식 : </a:t>
            </a:r>
            <a:pPr indent="0" marL="0">
              <a:buNone/>
            </a:pPr>
            <a:r>
              <a:rPr lang="en-US" sz="1500" b="1" dirty="0">
                <a:solidFill>
                  <a:srgbClr val="B886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 × 차종 × 조건</a:t>
            </a:r>
            <a:pPr indent="0" marL="0">
              <a:buNone/>
            </a:pPr>
            <a:r>
              <a:rPr lang="en-US" sz="1500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→  경쟁 낮고 전환 높은 검색어를 페이지로 선점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130552"/>
            <a:ext cx="5166360" cy="457200"/>
          </a:xfrm>
          <a:prstGeom prst="roundRect">
            <a:avLst>
              <a:gd name="adj" fmla="val 50000"/>
            </a:avLst>
          </a:prstGeom>
          <a:solidFill>
            <a:srgbClr val="EEF3FF"/>
          </a:solidFill>
          <a:ln w="12700">
            <a:solidFill>
              <a:srgbClr val="D8E2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13055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32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“부산 5톤 윙바디 기사 채용”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080760" y="2130552"/>
            <a:ext cx="5166360" cy="457200"/>
          </a:xfrm>
          <a:prstGeom prst="roundRect">
            <a:avLst>
              <a:gd name="adj" fmla="val 50000"/>
            </a:avLst>
          </a:prstGeom>
          <a:solidFill>
            <a:srgbClr val="EEF3FF"/>
          </a:solidFill>
          <a:ln w="12700">
            <a:solidFill>
              <a:srgbClr val="D8E2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55080" y="213055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32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“초보 화물기사 지입 모집”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2697480"/>
            <a:ext cx="5166360" cy="457200"/>
          </a:xfrm>
          <a:prstGeom prst="roundRect">
            <a:avLst>
              <a:gd name="adj" fmla="val 50000"/>
            </a:avLst>
          </a:prstGeom>
          <a:solidFill>
            <a:srgbClr val="EEF3FF"/>
          </a:solidFill>
          <a:ln w="12700">
            <a:solidFill>
              <a:srgbClr val="D8E2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6974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32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“대구 11톤 야간 운송 구인”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080760" y="2697480"/>
            <a:ext cx="5166360" cy="457200"/>
          </a:xfrm>
          <a:prstGeom prst="roundRect">
            <a:avLst>
              <a:gd name="adj" fmla="val 50000"/>
            </a:avLst>
          </a:prstGeom>
          <a:solidFill>
            <a:srgbClr val="EEF3FF"/>
          </a:solidFill>
          <a:ln w="12700">
            <a:solidFill>
              <a:srgbClr val="D8E2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55080" y="26974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32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“60대 화물 일자리 상시모집”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3364992"/>
            <a:ext cx="5166360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14300" dist="38100" dir="8100000">
              <a:srgbClr val="9AA8C7">
                <a:alpha val="2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3364992"/>
            <a:ext cx="91440" cy="1005840"/>
          </a:xfrm>
          <a:prstGeom prst="rect">
            <a:avLst/>
          </a:prstGeom>
          <a:solidFill>
            <a:srgbClr val="FFC400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49300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32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매일 발행 '품질' 강화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14400" y="38404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6B7A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글에 현장 사진·실수입·실제 노선 등 1차 정보 추가</a:t>
            </a:r>
            <a:endParaRPr lang="en-US" sz="1060" dirty="0"/>
          </a:p>
        </p:txBody>
      </p:sp>
      <p:sp>
        <p:nvSpPr>
          <p:cNvPr id="17" name="Shape 15"/>
          <p:cNvSpPr/>
          <p:nvPr/>
        </p:nvSpPr>
        <p:spPr>
          <a:xfrm>
            <a:off x="6080760" y="3364992"/>
            <a:ext cx="5166360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14300" dist="38100" dir="8100000">
              <a:srgbClr val="9AA8C7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80760" y="3364992"/>
            <a:ext cx="91440" cy="1005840"/>
          </a:xfrm>
          <a:prstGeom prst="rect">
            <a:avLst/>
          </a:prstGeom>
          <a:solidFill>
            <a:srgbClr val="FFC400"/>
          </a:solidFill>
          <a:ln/>
        </p:spPr>
      </p:sp>
      <p:sp>
        <p:nvSpPr>
          <p:cNvPr id="19" name="Text 17"/>
          <p:cNvSpPr/>
          <p:nvPr/>
        </p:nvSpPr>
        <p:spPr>
          <a:xfrm>
            <a:off x="6355080" y="349300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32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정보형 콘텐츠로 유입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55080" y="38404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6B7A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경유값·모의시험·수입 가이드 → 검색 유입 후 채용 연결</a:t>
            </a:r>
            <a:endParaRPr lang="en-US" sz="1060" dirty="0"/>
          </a:p>
        </p:txBody>
      </p:sp>
      <p:sp>
        <p:nvSpPr>
          <p:cNvPr id="21" name="Shape 19"/>
          <p:cNvSpPr/>
          <p:nvPr/>
        </p:nvSpPr>
        <p:spPr>
          <a:xfrm>
            <a:off x="640080" y="4507992"/>
            <a:ext cx="5166360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14300" dist="38100" dir="8100000">
              <a:srgbClr val="9AA8C7">
                <a:alpha val="2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0080" y="4507992"/>
            <a:ext cx="91440" cy="1005840"/>
          </a:xfrm>
          <a:prstGeom prst="rect">
            <a:avLst/>
          </a:prstGeom>
          <a:solidFill>
            <a:srgbClr val="FFC400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463600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32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내부링크 허브 구조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14400" y="49834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6B7A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홈·뉴스·가이드 → 지역/차종 페이지 촘촘히 연결(체류·색인↑)</a:t>
            </a:r>
            <a:endParaRPr lang="en-US" sz="1060" dirty="0"/>
          </a:p>
        </p:txBody>
      </p:sp>
      <p:sp>
        <p:nvSpPr>
          <p:cNvPr id="25" name="Shape 23"/>
          <p:cNvSpPr/>
          <p:nvPr/>
        </p:nvSpPr>
        <p:spPr>
          <a:xfrm>
            <a:off x="6080760" y="4507992"/>
            <a:ext cx="5166360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14300" dist="38100" dir="8100000">
              <a:srgbClr val="9AA8C7">
                <a:alpha val="2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80760" y="4507992"/>
            <a:ext cx="91440" cy="1005840"/>
          </a:xfrm>
          <a:prstGeom prst="rect">
            <a:avLst/>
          </a:prstGeom>
          <a:solidFill>
            <a:srgbClr val="FFC400"/>
          </a:solidFill>
          <a:ln/>
        </p:spPr>
      </p:sp>
      <p:sp>
        <p:nvSpPr>
          <p:cNvPr id="27" name="Text 25"/>
          <p:cNvSpPr/>
          <p:nvPr/>
        </p:nvSpPr>
        <p:spPr>
          <a:xfrm>
            <a:off x="6355080" y="463600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32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제목·메타 최적화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355080" y="49834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6B7A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검색어를 제목 앞쪽에, 설명(meta)·이미지 alt까지 키워드 반영</a:t>
            </a:r>
            <a:endParaRPr lang="en-US" sz="1060" dirty="0"/>
          </a:p>
        </p:txBody>
      </p:sp>
      <p:sp>
        <p:nvSpPr>
          <p:cNvPr id="29" name="Text 27"/>
          <p:cNvSpPr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해광 화물구인구직 · 검색엔진 노출 전략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C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OFF-SITE (무료)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32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노출 · 백링크 : 사이트 밖에서 신뢰와 유입 만들기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272888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14300" dist="38100" dir="8100000">
              <a:srgbClr val="9AA8C7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12848"/>
            <a:ext cx="640080" cy="640080"/>
          </a:xfrm>
          <a:prstGeom prst="ellipse">
            <a:avLst/>
          </a:prstGeom>
          <a:solidFill>
            <a:srgbClr val="15326F"/>
          </a:solidFill>
          <a:ln/>
          <a:effectLst>
            <a:outerShdw sx="100000" sy="100000" kx="0" ky="0" algn="bl" rotWithShape="0" blurRad="114300" dist="38100" dir="8100000">
              <a:srgbClr val="9AA8C7">
                <a:alpha val="2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0023" y="2398471"/>
            <a:ext cx="268834" cy="26883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2029968"/>
            <a:ext cx="3992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32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네이버 카페·밴드·블로그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737360" y="2468880"/>
            <a:ext cx="39470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화물·운송 커뮤니티에 정보 공유 + 홈페이지 링크(과한 홍보 금지)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278728" y="1737360"/>
            <a:ext cx="5272888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14300" dist="38100" dir="8100000">
              <a:srgbClr val="9AA8C7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53048" y="2212848"/>
            <a:ext cx="640080" cy="640080"/>
          </a:xfrm>
          <a:prstGeom prst="ellipse">
            <a:avLst/>
          </a:prstGeom>
          <a:solidFill>
            <a:srgbClr val="15326F"/>
          </a:solidFill>
          <a:ln/>
          <a:effectLst>
            <a:outerShdw sx="100000" sy="100000" kx="0" ky="0" algn="bl" rotWithShape="0" blurRad="114300" dist="38100" dir="8100000">
              <a:srgbClr val="9AA8C7">
                <a:alpha val="28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8671" y="2398471"/>
            <a:ext cx="268834" cy="26883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76008" y="2029968"/>
            <a:ext cx="3992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32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유튜브·쇼츠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7376008" y="2468880"/>
            <a:ext cx="39470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해광툰·현장 영상 쇼츠 → 검색·추천 유입, 영상은 노출 가중치↑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40080" y="3566160"/>
            <a:ext cx="5272888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14300" dist="38100" dir="8100000">
              <a:srgbClr val="9AA8C7">
                <a:alpha val="2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4041648"/>
            <a:ext cx="640080" cy="640080"/>
          </a:xfrm>
          <a:prstGeom prst="ellipse">
            <a:avLst/>
          </a:prstGeom>
          <a:solidFill>
            <a:srgbClr val="15326F"/>
          </a:solidFill>
          <a:ln/>
          <a:effectLst>
            <a:outerShdw sx="100000" sy="100000" kx="0" ky="0" algn="bl" rotWithShape="0" blurRad="114300" dist="38100" dir="8100000">
              <a:srgbClr val="9AA8C7">
                <a:alpha val="28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023" y="4227271"/>
            <a:ext cx="268834" cy="26883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37360" y="3858768"/>
            <a:ext cx="3992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32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지도·디렉토리 등록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1737360" y="4297680"/>
            <a:ext cx="39470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네이버 플레이스·구글 비즈니스·카카오맵 무료 등록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278728" y="3566160"/>
            <a:ext cx="5272888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14300" dist="38100" dir="8100000">
              <a:srgbClr val="9AA8C7">
                <a:alpha val="2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53048" y="4041648"/>
            <a:ext cx="640080" cy="640080"/>
          </a:xfrm>
          <a:prstGeom prst="ellipse">
            <a:avLst/>
          </a:prstGeom>
          <a:solidFill>
            <a:srgbClr val="15326F"/>
          </a:solidFill>
          <a:ln/>
          <a:effectLst>
            <a:outerShdw sx="100000" sy="100000" kx="0" ky="0" algn="bl" rotWithShape="0" blurRad="114300" dist="38100" dir="8100000">
              <a:srgbClr val="9AA8C7">
                <a:alpha val="28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8671" y="4227271"/>
            <a:ext cx="268834" cy="26883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76008" y="3858768"/>
            <a:ext cx="3992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32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커뮤니티·구인 채널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7376008" y="4297680"/>
            <a:ext cx="39470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화물 카페/오픈채팅·무료 구인 게시판에 공고 동시 노출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640080" y="5989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1532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: 한 번 만든 공고·콘텐츠를 '여러 무료 채널에 동시 배포'해 노출 면적을 최대화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해광 화물구인구직 · 검색엔진 노출 전략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C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MEASURE &amp; IMPROVE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32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 → 개선 루프 : 감이 아니라 데이터로 운영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2487854" cy="1371600"/>
          </a:xfrm>
          <a:prstGeom prst="roundRect">
            <a:avLst>
              <a:gd name="adj" fmla="val 5333"/>
            </a:avLst>
          </a:prstGeom>
          <a:solidFill>
            <a:srgbClr val="15326F"/>
          </a:solidFill>
          <a:ln/>
          <a:effectLst>
            <a:outerShdw sx="100000" sy="100000" kx="0" ky="0" algn="bl" rotWithShape="0" blurRad="114300" dist="38100" dir="8100000">
              <a:srgbClr val="9AA8C7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2048256"/>
            <a:ext cx="22135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C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노출수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31520" y="2542032"/>
            <a:ext cx="23049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30" dirty="0">
                <a:solidFill>
                  <a:srgbClr val="C9D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검색결과 표시 횟수</a:t>
            </a:r>
            <a:endParaRPr lang="en-US" sz="1030" dirty="0"/>
          </a:p>
        </p:txBody>
      </p:sp>
      <p:sp>
        <p:nvSpPr>
          <p:cNvPr id="7" name="Shape 5"/>
          <p:cNvSpPr/>
          <p:nvPr/>
        </p:nvSpPr>
        <p:spPr>
          <a:xfrm>
            <a:off x="3447974" y="1737360"/>
            <a:ext cx="2487854" cy="1371600"/>
          </a:xfrm>
          <a:prstGeom prst="roundRect">
            <a:avLst>
              <a:gd name="adj" fmla="val 5333"/>
            </a:avLst>
          </a:prstGeom>
          <a:solidFill>
            <a:srgbClr val="15326F"/>
          </a:solidFill>
          <a:ln/>
          <a:effectLst>
            <a:outerShdw sx="100000" sy="100000" kx="0" ky="0" algn="bl" rotWithShape="0" blurRad="114300" dist="38100" dir="8100000">
              <a:srgbClr val="9AA8C7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85134" y="2048256"/>
            <a:ext cx="22135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C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클릭·CTR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3539414" y="2542032"/>
            <a:ext cx="23049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30" dirty="0">
                <a:solidFill>
                  <a:srgbClr val="C9D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방문 + 클릭률</a:t>
            </a:r>
            <a:endParaRPr lang="en-US" sz="1030" dirty="0"/>
          </a:p>
        </p:txBody>
      </p:sp>
      <p:sp>
        <p:nvSpPr>
          <p:cNvPr id="10" name="Shape 8"/>
          <p:cNvSpPr/>
          <p:nvPr/>
        </p:nvSpPr>
        <p:spPr>
          <a:xfrm>
            <a:off x="6255868" y="1737360"/>
            <a:ext cx="2487854" cy="1371600"/>
          </a:xfrm>
          <a:prstGeom prst="roundRect">
            <a:avLst>
              <a:gd name="adj" fmla="val 5333"/>
            </a:avLst>
          </a:prstGeom>
          <a:solidFill>
            <a:srgbClr val="15326F"/>
          </a:solidFill>
          <a:ln/>
          <a:effectLst>
            <a:outerShdw sx="100000" sy="100000" kx="0" ky="0" algn="bl" rotWithShape="0" blurRad="114300" dist="38100" dir="8100000">
              <a:srgbClr val="9AA8C7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93028" y="2048256"/>
            <a:ext cx="22135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C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체류·이탈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6347308" y="2542032"/>
            <a:ext cx="23049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30" dirty="0">
                <a:solidFill>
                  <a:srgbClr val="C9D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콘텐츠 품질 신호</a:t>
            </a:r>
            <a:endParaRPr lang="en-US" sz="1030" dirty="0"/>
          </a:p>
        </p:txBody>
      </p:sp>
      <p:sp>
        <p:nvSpPr>
          <p:cNvPr id="13" name="Shape 11"/>
          <p:cNvSpPr/>
          <p:nvPr/>
        </p:nvSpPr>
        <p:spPr>
          <a:xfrm>
            <a:off x="9063761" y="1737360"/>
            <a:ext cx="2487854" cy="1371600"/>
          </a:xfrm>
          <a:prstGeom prst="roundRect">
            <a:avLst>
              <a:gd name="adj" fmla="val 5333"/>
            </a:avLst>
          </a:prstGeom>
          <a:solidFill>
            <a:srgbClr val="15326F"/>
          </a:solidFill>
          <a:ln/>
          <a:effectLst>
            <a:outerShdw sx="100000" sy="100000" kx="0" ky="0" algn="bl" rotWithShape="0" blurRad="114300" dist="38100" dir="8100000">
              <a:srgbClr val="9AA8C7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200921" y="2048256"/>
            <a:ext cx="22135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C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전화·이력서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9155201" y="2542032"/>
            <a:ext cx="23049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30" dirty="0">
                <a:solidFill>
                  <a:srgbClr val="C9D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채용 전환</a:t>
            </a:r>
            <a:endParaRPr lang="en-US" sz="1030" dirty="0"/>
          </a:p>
        </p:txBody>
      </p:sp>
      <p:sp>
        <p:nvSpPr>
          <p:cNvPr id="16" name="Text 14"/>
          <p:cNvSpPr/>
          <p:nvPr/>
        </p:nvSpPr>
        <p:spPr>
          <a:xfrm>
            <a:off x="640080" y="340156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32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도구 (대부분 이미 자동화)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3840480"/>
            <a:ext cx="339333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14300" dist="38100" dir="8100000">
              <a:srgbClr val="9AA8C7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14400" y="4251960"/>
            <a:ext cx="594360" cy="594360"/>
          </a:xfrm>
          <a:prstGeom prst="ellipse">
            <a:avLst/>
          </a:prstGeom>
          <a:solidFill>
            <a:srgbClr val="03C75A"/>
          </a:solidFill>
          <a:ln/>
          <a:effectLst>
            <a:outerShdw sx="100000" sy="100000" kx="0" ky="0" algn="bl" rotWithShape="0" blurRad="114300" dist="38100" dir="8100000">
              <a:srgbClr val="9AA8C7">
                <a:alpha val="28000"/>
              </a:srgbClr>
            </a:outerShdw>
          </a:effectLst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6764" y="4424324"/>
            <a:ext cx="249631" cy="249631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645920" y="4151376"/>
            <a:ext cx="2204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32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GA4 — 유입·전환 분석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1645920" y="4608576"/>
            <a:ext cx="2204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매일 방문자 자동 리포트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4399178" y="3840480"/>
            <a:ext cx="339333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14300" dist="38100" dir="8100000">
              <a:srgbClr val="9AA8C7">
                <a:alpha val="2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673498" y="4251960"/>
            <a:ext cx="594360" cy="594360"/>
          </a:xfrm>
          <a:prstGeom prst="ellipse">
            <a:avLst/>
          </a:prstGeom>
          <a:solidFill>
            <a:srgbClr val="03C75A"/>
          </a:solidFill>
          <a:ln/>
          <a:effectLst>
            <a:outerShdw sx="100000" sy="100000" kx="0" ky="0" algn="bl" rotWithShape="0" blurRad="114300" dist="38100" dir="8100000">
              <a:srgbClr val="9AA8C7">
                <a:alpha val="28000"/>
              </a:srgbClr>
            </a:outerShdw>
          </a:effectLst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5863" y="4424324"/>
            <a:ext cx="249631" cy="249631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5405018" y="4151376"/>
            <a:ext cx="2204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32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서치콘솔 — 검색어·색인</a:t>
            </a:r>
            <a:endParaRPr lang="en-US" sz="1250" dirty="0"/>
          </a:p>
        </p:txBody>
      </p:sp>
      <p:sp>
        <p:nvSpPr>
          <p:cNvPr id="26" name="Text 22"/>
          <p:cNvSpPr/>
          <p:nvPr/>
        </p:nvSpPr>
        <p:spPr>
          <a:xfrm>
            <a:off x="5405018" y="4608576"/>
            <a:ext cx="2204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주간 노출/순위 자동 점검</a:t>
            </a:r>
            <a:endParaRPr lang="en-US" sz="1050" dirty="0"/>
          </a:p>
        </p:txBody>
      </p:sp>
      <p:sp>
        <p:nvSpPr>
          <p:cNvPr id="27" name="Shape 23"/>
          <p:cNvSpPr/>
          <p:nvPr/>
        </p:nvSpPr>
        <p:spPr>
          <a:xfrm>
            <a:off x="8158277" y="3840480"/>
            <a:ext cx="339333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14300" dist="38100" dir="8100000">
              <a:srgbClr val="9AA8C7">
                <a:alpha val="28000"/>
              </a:srgbClr>
            </a:outerShdw>
          </a:effectLst>
        </p:spPr>
      </p:sp>
      <p:sp>
        <p:nvSpPr>
          <p:cNvPr id="28" name="Shape 24"/>
          <p:cNvSpPr/>
          <p:nvPr/>
        </p:nvSpPr>
        <p:spPr>
          <a:xfrm>
            <a:off x="8432597" y="4251960"/>
            <a:ext cx="594360" cy="594360"/>
          </a:xfrm>
          <a:prstGeom prst="ellipse">
            <a:avLst/>
          </a:prstGeom>
          <a:solidFill>
            <a:srgbClr val="03C75A"/>
          </a:solidFill>
          <a:ln/>
          <a:effectLst>
            <a:outerShdw sx="100000" sy="100000" kx="0" ky="0" algn="bl" rotWithShape="0" blurRad="114300" dist="38100" dir="8100000">
              <a:srgbClr val="9AA8C7">
                <a:alpha val="28000"/>
              </a:srgbClr>
            </a:outerShdw>
          </a:effectLst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4961" y="4424324"/>
            <a:ext cx="249631" cy="249631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9164117" y="4151376"/>
            <a:ext cx="2204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32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IndexNow — 즉시 통보</a:t>
            </a:r>
            <a:endParaRPr lang="en-US" sz="1250" dirty="0"/>
          </a:p>
        </p:txBody>
      </p:sp>
      <p:sp>
        <p:nvSpPr>
          <p:cNvPr id="31" name="Text 26"/>
          <p:cNvSpPr/>
          <p:nvPr/>
        </p:nvSpPr>
        <p:spPr>
          <a:xfrm>
            <a:off x="9164117" y="4608576"/>
            <a:ext cx="2204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시 검색엔진 자동 알림</a:t>
            </a:r>
            <a:endParaRPr lang="en-US" sz="1050" dirty="0"/>
          </a:p>
        </p:txBody>
      </p:sp>
      <p:sp>
        <p:nvSpPr>
          <p:cNvPr id="32" name="Text 27"/>
          <p:cNvSpPr/>
          <p:nvPr/>
        </p:nvSpPr>
        <p:spPr>
          <a:xfrm>
            <a:off x="640080" y="5532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매주 점검 → 잘 되는 키워드는 콘텐츠 확대, 부진 페이지는 제목·내용 개선 (반복 개선)</a:t>
            </a:r>
            <a:endParaRPr lang="en-US" sz="1150" dirty="0"/>
          </a:p>
        </p:txBody>
      </p:sp>
      <p:sp>
        <p:nvSpPr>
          <p:cNvPr id="33" name="Text 28"/>
          <p:cNvSpPr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해광 화물구인구직 · 검색엔진 노출 전략</a:t>
            </a:r>
            <a:endParaRPr lang="en-US" sz="900" dirty="0"/>
          </a:p>
        </p:txBody>
      </p:sp>
      <p:sp>
        <p:nvSpPr>
          <p:cNvPr id="34" name="Text 29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C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32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향후 진행 방향 : 30 · 60 · 90일 + 6개월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487854" cy="4160520"/>
          </a:xfrm>
          <a:prstGeom prst="roundRect">
            <a:avLst>
              <a:gd name="adj" fmla="val 2940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14300" dist="38100" dir="8100000">
              <a:srgbClr val="9AA8C7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828800"/>
            <a:ext cx="2487854" cy="841248"/>
          </a:xfrm>
          <a:prstGeom prst="rect">
            <a:avLst/>
          </a:prstGeom>
          <a:solidFill>
            <a:srgbClr val="FFC40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920240"/>
            <a:ext cx="24878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532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30일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2322576"/>
            <a:ext cx="248785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32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즉시 실행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59536" y="2852928"/>
            <a:ext cx="2085518" cy="2990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900"/>
              </a:spcAft>
              <a:buSzPct val="100000"/>
              <a:buChar char="•"/>
            </a:pPr>
            <a:r>
              <a:rPr lang="en-US" sz="1060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JobPosting 구조화데이터 전 공고 적용</a:t>
            </a:r>
            <a:endParaRPr lang="en-US" sz="1060" dirty="0"/>
          </a:p>
          <a:p>
            <a:pPr marL="165100" indent="-165100">
              <a:spcAft>
                <a:spcPts val="900"/>
              </a:spcAft>
              <a:buSzPct val="100000"/>
              <a:buChar char="•"/>
            </a:pPr>
            <a:r>
              <a:rPr lang="en-US" sz="1060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네이버 플레이스·구글 비즈니스 등록</a:t>
            </a:r>
            <a:endParaRPr lang="en-US" sz="1060" dirty="0"/>
          </a:p>
          <a:p>
            <a:pPr marL="165100" indent="-165100">
              <a:spcAft>
                <a:spcPts val="900"/>
              </a:spcAft>
              <a:buSzPct val="100000"/>
              <a:buChar char="•"/>
            </a:pPr>
            <a:r>
              <a:rPr lang="en-US" sz="1060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서치콘솔 색인 정리 + 부진 페이지 개선</a:t>
            </a:r>
            <a:endParaRPr lang="en-US" sz="1060" dirty="0"/>
          </a:p>
        </p:txBody>
      </p:sp>
      <p:sp>
        <p:nvSpPr>
          <p:cNvPr id="9" name="Shape 7"/>
          <p:cNvSpPr/>
          <p:nvPr/>
        </p:nvSpPr>
        <p:spPr>
          <a:xfrm>
            <a:off x="3447974" y="1828800"/>
            <a:ext cx="2487854" cy="4160520"/>
          </a:xfrm>
          <a:prstGeom prst="roundRect">
            <a:avLst>
              <a:gd name="adj" fmla="val 2940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14300" dist="38100" dir="8100000">
              <a:srgbClr val="9AA8C7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47974" y="1828800"/>
            <a:ext cx="2487854" cy="841248"/>
          </a:xfrm>
          <a:prstGeom prst="rect">
            <a:avLst/>
          </a:prstGeom>
          <a:solidFill>
            <a:srgbClr val="03C75A"/>
          </a:solidFill>
          <a:ln/>
        </p:spPr>
      </p:sp>
      <p:sp>
        <p:nvSpPr>
          <p:cNvPr id="11" name="Text 9"/>
          <p:cNvSpPr/>
          <p:nvPr/>
        </p:nvSpPr>
        <p:spPr>
          <a:xfrm>
            <a:off x="3447974" y="1920240"/>
            <a:ext cx="24878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60일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447974" y="2322576"/>
            <a:ext cx="248785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AF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채널 확장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67430" y="2852928"/>
            <a:ext cx="2085518" cy="2990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900"/>
              </a:spcAft>
              <a:buSzPct val="100000"/>
              <a:buChar char="•"/>
            </a:pPr>
            <a:r>
              <a:rPr lang="en-US" sz="1060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네이버 블로그/카페 정기 운영 시작</a:t>
            </a:r>
            <a:endParaRPr lang="en-US" sz="1060" dirty="0"/>
          </a:p>
          <a:p>
            <a:pPr marL="165100" indent="-165100">
              <a:spcAft>
                <a:spcPts val="900"/>
              </a:spcAft>
              <a:buSzPct val="100000"/>
              <a:buChar char="•"/>
            </a:pPr>
            <a:r>
              <a:rPr lang="en-US" sz="1060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유튜브 쇼츠(해광툰) 업로드 루틴</a:t>
            </a:r>
            <a:endParaRPr lang="en-US" sz="1060" dirty="0"/>
          </a:p>
          <a:p>
            <a:pPr marL="165100" indent="-165100">
              <a:spcAft>
                <a:spcPts val="900"/>
              </a:spcAft>
              <a:buSzPct val="100000"/>
              <a:buChar char="•"/>
            </a:pPr>
            <a:r>
              <a:rPr lang="en-US" sz="1060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지역×차종 롱테일 페이지 확장</a:t>
            </a:r>
            <a:endParaRPr lang="en-US" sz="1060" dirty="0"/>
          </a:p>
        </p:txBody>
      </p:sp>
      <p:sp>
        <p:nvSpPr>
          <p:cNvPr id="14" name="Shape 12"/>
          <p:cNvSpPr/>
          <p:nvPr/>
        </p:nvSpPr>
        <p:spPr>
          <a:xfrm>
            <a:off x="6255868" y="1828800"/>
            <a:ext cx="2487854" cy="4160520"/>
          </a:xfrm>
          <a:prstGeom prst="roundRect">
            <a:avLst>
              <a:gd name="adj" fmla="val 2940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14300" dist="38100" dir="8100000">
              <a:srgbClr val="9AA8C7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55868" y="1828800"/>
            <a:ext cx="2487854" cy="841248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6" name="Text 14"/>
          <p:cNvSpPr/>
          <p:nvPr/>
        </p:nvSpPr>
        <p:spPr>
          <a:xfrm>
            <a:off x="6255868" y="1920240"/>
            <a:ext cx="24878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90일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255868" y="2322576"/>
            <a:ext cx="248785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AF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성과 가속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75324" y="2852928"/>
            <a:ext cx="2085518" cy="2990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900"/>
              </a:spcAft>
              <a:buSzPct val="100000"/>
              <a:buChar char="•"/>
            </a:pPr>
            <a:r>
              <a:rPr lang="en-US" sz="1060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상위 키워드 콘텐츠 집중 보강</a:t>
            </a:r>
            <a:endParaRPr lang="en-US" sz="1060" dirty="0"/>
          </a:p>
          <a:p>
            <a:pPr marL="165100" indent="-165100">
              <a:spcAft>
                <a:spcPts val="900"/>
              </a:spcAft>
              <a:buSzPct val="100000"/>
              <a:buChar char="•"/>
            </a:pPr>
            <a:r>
              <a:rPr lang="en-US" sz="1060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수입·자격증 정보 허브 고도화</a:t>
            </a:r>
            <a:endParaRPr lang="en-US" sz="1060" dirty="0"/>
          </a:p>
          <a:p>
            <a:pPr marL="165100" indent="-165100">
              <a:spcAft>
                <a:spcPts val="900"/>
              </a:spcAft>
              <a:buSzPct val="100000"/>
              <a:buChar char="•"/>
            </a:pPr>
            <a:r>
              <a:rPr lang="en-US" sz="1060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전환(전화·이력서) 흐름 최적화</a:t>
            </a:r>
            <a:endParaRPr lang="en-US" sz="1060" dirty="0"/>
          </a:p>
        </p:txBody>
      </p:sp>
      <p:sp>
        <p:nvSpPr>
          <p:cNvPr id="19" name="Shape 17"/>
          <p:cNvSpPr/>
          <p:nvPr/>
        </p:nvSpPr>
        <p:spPr>
          <a:xfrm>
            <a:off x="9063761" y="1828800"/>
            <a:ext cx="2487854" cy="4160520"/>
          </a:xfrm>
          <a:prstGeom prst="roundRect">
            <a:avLst>
              <a:gd name="adj" fmla="val 2940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114300" dist="38100" dir="8100000">
              <a:srgbClr val="9AA8C7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063761" y="1828800"/>
            <a:ext cx="2487854" cy="841248"/>
          </a:xfrm>
          <a:prstGeom prst="rect">
            <a:avLst/>
          </a:prstGeom>
          <a:solidFill>
            <a:srgbClr val="15326F"/>
          </a:solidFill>
          <a:ln/>
        </p:spPr>
      </p:sp>
      <p:sp>
        <p:nvSpPr>
          <p:cNvPr id="21" name="Text 19"/>
          <p:cNvSpPr/>
          <p:nvPr/>
        </p:nvSpPr>
        <p:spPr>
          <a:xfrm>
            <a:off x="9063761" y="1920240"/>
            <a:ext cx="24878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6개월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063761" y="2322576"/>
            <a:ext cx="248785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AF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리더십 굳히기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283217" y="2852928"/>
            <a:ext cx="2085518" cy="2990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900"/>
              </a:spcAft>
              <a:buSzPct val="100000"/>
              <a:buChar char="•"/>
            </a:pPr>
            <a:r>
              <a:rPr lang="en-US" sz="1060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'화물구인구직' 키워드 상위 안착</a:t>
            </a:r>
            <a:endParaRPr lang="en-US" sz="1060" dirty="0"/>
          </a:p>
          <a:p>
            <a:pPr marL="165100" indent="-165100">
              <a:spcAft>
                <a:spcPts val="900"/>
              </a:spcAft>
              <a:buSzPct val="100000"/>
              <a:buChar char="•"/>
            </a:pPr>
            <a:r>
              <a:rPr lang="en-US" sz="1060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리뷰·후기 자산화로 신뢰 누적</a:t>
            </a:r>
            <a:endParaRPr lang="en-US" sz="1060" dirty="0"/>
          </a:p>
          <a:p>
            <a:pPr marL="165100" indent="-165100">
              <a:spcAft>
                <a:spcPts val="900"/>
              </a:spcAft>
              <a:buSzPct val="100000"/>
              <a:buChar char="•"/>
            </a:pPr>
            <a:r>
              <a:rPr lang="en-US" sz="1060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기반 월간 리포트 정착</a:t>
            </a:r>
            <a:endParaRPr lang="en-US" sz="1060" dirty="0"/>
          </a:p>
        </p:txBody>
      </p:sp>
      <p:sp>
        <p:nvSpPr>
          <p:cNvPr id="24" name="Text 22"/>
          <p:cNvSpPr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해광 화물구인구직 · 검색엔진 노출 전략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C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GUARDRAILS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32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주의사항 · 지속가능한 운영 원칙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911535" cy="896112"/>
          </a:xfrm>
          <a:prstGeom prst="roundRect">
            <a:avLst>
              <a:gd name="adj" fmla="val 6122"/>
            </a:avLst>
          </a:prstGeom>
          <a:solidFill>
            <a:srgbClr val="FFF6F3"/>
          </a:solidFill>
          <a:ln w="12700">
            <a:solidFill>
              <a:srgbClr val="F6CFC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002536"/>
            <a:ext cx="548640" cy="548640"/>
          </a:xfrm>
          <a:prstGeom prst="ellipse">
            <a:avLst/>
          </a:prstGeom>
          <a:solidFill>
            <a:srgbClr val="E8533A"/>
          </a:solidFill>
          <a:ln/>
          <a:effectLst>
            <a:outerShdw sx="100000" sy="100000" kx="0" ky="0" algn="bl" rotWithShape="0" blurRad="114300" dist="38100" dir="8100000">
              <a:srgbClr val="9AA8C7">
                <a:alpha val="2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7786" y="2161642"/>
            <a:ext cx="230429" cy="23042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956816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23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생성 티 나는 대량글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669280" y="1956816"/>
            <a:ext cx="5608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네이버·구글 모두 저품질·AI남발 패널티 → 사람 검수·1차정보 필수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40080" y="2852928"/>
            <a:ext cx="10911535" cy="896112"/>
          </a:xfrm>
          <a:prstGeom prst="roundRect">
            <a:avLst>
              <a:gd name="adj" fmla="val 6122"/>
            </a:avLst>
          </a:prstGeom>
          <a:solidFill>
            <a:srgbClr val="FFF6F3"/>
          </a:solidFill>
          <a:ln w="12700">
            <a:solidFill>
              <a:srgbClr val="F6CFC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68680" y="3026664"/>
            <a:ext cx="548640" cy="548640"/>
          </a:xfrm>
          <a:prstGeom prst="ellipse">
            <a:avLst/>
          </a:prstGeom>
          <a:solidFill>
            <a:srgbClr val="E8533A"/>
          </a:solidFill>
          <a:ln/>
          <a:effectLst>
            <a:outerShdw sx="100000" sy="100000" kx="0" ky="0" algn="bl" rotWithShape="0" blurRad="114300" dist="38100" dir="8100000">
              <a:srgbClr val="9AA8C7">
                <a:alpha val="28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786" y="3185770"/>
            <a:ext cx="230429" cy="23042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45920" y="2980944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23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중복·허위 공고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5669280" y="2980944"/>
            <a:ext cx="5608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글 복붙/허위 모집은 신뢰·색인에 독 → 공고는 사실·고유하게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40080" y="3877056"/>
            <a:ext cx="10911535" cy="896112"/>
          </a:xfrm>
          <a:prstGeom prst="roundRect">
            <a:avLst>
              <a:gd name="adj" fmla="val 6122"/>
            </a:avLst>
          </a:prstGeom>
          <a:solidFill>
            <a:srgbClr val="FFF6F3"/>
          </a:solidFill>
          <a:ln w="12700">
            <a:solidFill>
              <a:srgbClr val="F6CFC4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68680" y="4050792"/>
            <a:ext cx="548640" cy="548640"/>
          </a:xfrm>
          <a:prstGeom prst="ellipse">
            <a:avLst/>
          </a:prstGeom>
          <a:solidFill>
            <a:srgbClr val="E8533A"/>
          </a:solidFill>
          <a:ln/>
          <a:effectLst>
            <a:outerShdw sx="100000" sy="100000" kx="0" ky="0" algn="bl" rotWithShape="0" blurRad="114300" dist="38100" dir="8100000">
              <a:srgbClr val="9AA8C7">
                <a:alpha val="28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7786" y="4209898"/>
            <a:ext cx="230429" cy="23042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4005072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23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'상위노출 보장' 업체 주의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5669280" y="4005072"/>
            <a:ext cx="5608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어뷰징은 일시적·역효과. 무료 정공법(콘텐츠+구조)이 가장 안전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40080" y="4901184"/>
            <a:ext cx="10911535" cy="896112"/>
          </a:xfrm>
          <a:prstGeom prst="roundRect">
            <a:avLst>
              <a:gd name="adj" fmla="val 6122"/>
            </a:avLst>
          </a:prstGeom>
          <a:solidFill>
            <a:srgbClr val="FFF6F3"/>
          </a:solidFill>
          <a:ln w="12700">
            <a:solidFill>
              <a:srgbClr val="F6CFC4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68680" y="5074920"/>
            <a:ext cx="548640" cy="548640"/>
          </a:xfrm>
          <a:prstGeom prst="ellipse">
            <a:avLst/>
          </a:prstGeom>
          <a:solidFill>
            <a:srgbClr val="E8533A"/>
          </a:solidFill>
          <a:ln/>
          <a:effectLst>
            <a:outerShdw sx="100000" sy="100000" kx="0" ky="0" algn="bl" rotWithShape="0" blurRad="114300" dist="38100" dir="8100000">
              <a:srgbClr val="9AA8C7">
                <a:alpha val="28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7786" y="5234026"/>
            <a:ext cx="230429" cy="23042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45920" y="502920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23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개인정보·구조화 정확성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5669280" y="5029200"/>
            <a:ext cx="5608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공고 정보는 페이지 내용과 일치해야 함(불일치 시 노출 제거 위험)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해광 화물구인구직 · 검색엔진 노출 전략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23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C4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요약 · 지금 바로 할 5가지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48640" cy="548640"/>
          </a:xfrm>
          <a:prstGeom prst="ellipse">
            <a:avLst/>
          </a:prstGeom>
          <a:solidFill>
            <a:srgbClr val="FFC40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23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463040" y="1554480"/>
            <a:ext cx="100885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공고마다 JobPosting 구조화데이터 → '구글 채용' 무료 노출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395728"/>
            <a:ext cx="548640" cy="548640"/>
          </a:xfrm>
          <a:prstGeom prst="ellipse">
            <a:avLst/>
          </a:prstGeom>
          <a:solidFill>
            <a:srgbClr val="FFC40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3957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23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463040" y="2395728"/>
            <a:ext cx="100885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네이버 플레이스 + 구글 비즈니스 프로필 등록(지역검색 선점)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3236976"/>
            <a:ext cx="548640" cy="548640"/>
          </a:xfrm>
          <a:prstGeom prst="ellipse">
            <a:avLst/>
          </a:prstGeom>
          <a:solidFill>
            <a:srgbClr val="FFC400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23697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23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463040" y="3236976"/>
            <a:ext cx="100885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네이버 블로그·카페 정기 운영(사람 손길로 C-Rank 신뢰 쌓기)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078224"/>
            <a:ext cx="548640" cy="548640"/>
          </a:xfrm>
          <a:prstGeom prst="ellipse">
            <a:avLst/>
          </a:prstGeom>
          <a:solidFill>
            <a:srgbClr val="FFC400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0782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23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463040" y="4078224"/>
            <a:ext cx="100885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지역×차종×조건 롱테일 페이지 + 내부링크 계속 확장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4919472"/>
            <a:ext cx="548640" cy="548640"/>
          </a:xfrm>
          <a:prstGeom prst="ellipse">
            <a:avLst/>
          </a:prstGeom>
          <a:solidFill>
            <a:srgbClr val="FFC400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9194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23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463040" y="4919472"/>
            <a:ext cx="100885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서치콘솔·GA4로 매주 점검 → 잘 되는 키워드에 집중 투자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0080" y="59436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FFC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 : '화물구인구직' 검색 = 해광 — 25~70세 화물기사 모집 극대화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검색엔진 노출 마케팅 전략</dc:title>
  <dc:subject>PptxGenJS Presentation</dc:subject>
  <dc:creator>해광 화물운송</dc:creator>
  <cp:lastModifiedBy>해광 화물운송</cp:lastModifiedBy>
  <cp:revision>1</cp:revision>
  <dcterms:created xsi:type="dcterms:W3CDTF">2026-06-17T03:56:53Z</dcterms:created>
  <dcterms:modified xsi:type="dcterms:W3CDTF">2026-06-17T03:56:53Z</dcterms:modified>
</cp:coreProperties>
</file>